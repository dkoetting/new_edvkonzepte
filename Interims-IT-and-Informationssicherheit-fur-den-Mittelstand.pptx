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IBM Plex Sans Bold" panose="020B0803050203000203" pitchFamily="34" charset="-120"/>
      <p:bold r:id="rId12"/>
    </p:embeddedFont>
    <p:embeddedFont>
      <p:font typeface="IBM Plex Sans" panose="020B0503050203000203" pitchFamily="34" charset="0"/>
      <p:regular r:id="rId13"/>
      <p:bold r:id="rId14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20" y="21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55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6E6"/>
          </a:solidFill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6E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6E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6E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6E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6E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6E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6E6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BD6E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#kontakt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hyperlink" Target="#kontakt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#cases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hyperlink" Target="#kontakt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#isms"/><Relationship Id="rId13" Type="http://schemas.openxmlformats.org/officeDocument/2006/relationships/image" Target="../media/image19.svg"/><Relationship Id="rId3" Type="http://schemas.openxmlformats.org/officeDocument/2006/relationships/hyperlink" Target="#kontakt"/><Relationship Id="rId7" Type="http://schemas.openxmlformats.org/officeDocument/2006/relationships/image" Target="../media/image16.svg"/><Relationship Id="rId12" Type="http://schemas.openxmlformats.org/officeDocument/2006/relationships/hyperlink" Target="#kier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hyperlink" Target="#interims-it"/><Relationship Id="rId11" Type="http://schemas.openxmlformats.org/officeDocument/2006/relationships/image" Target="../media/image18.svg"/><Relationship Id="rId5" Type="http://schemas.openxmlformats.org/officeDocument/2006/relationships/image" Target="../media/image15.svg"/><Relationship Id="rId10" Type="http://schemas.openxmlformats.org/officeDocument/2006/relationships/hyperlink" Target="#ai-act"/><Relationship Id="rId4" Type="http://schemas.openxmlformats.org/officeDocument/2006/relationships/image" Target="../media/image14.png"/><Relationship Id="rId9" Type="http://schemas.openxmlformats.org/officeDocument/2006/relationships/image" Target="../media/image17.svg"/><Relationship Id="rId14" Type="http://schemas.openxmlformats.org/officeDocument/2006/relationships/hyperlink" Target="#governance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hyperlink" Target="#kontakt"/><Relationship Id="rId7" Type="http://schemas.openxmlformats.org/officeDocument/2006/relationships/image" Target="../media/image23.sv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hyperlink" Target="#kontakt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0.sv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svg"/><Relationship Id="rId19" Type="http://schemas.openxmlformats.org/officeDocument/2006/relationships/image" Target="../media/image43.png"/><Relationship Id="rId4" Type="http://schemas.openxmlformats.org/officeDocument/2006/relationships/image" Target="../media/image20.png"/><Relationship Id="rId9" Type="http://schemas.openxmlformats.org/officeDocument/2006/relationships/image" Target="../media/image33.png"/><Relationship Id="rId14" Type="http://schemas.openxmlformats.org/officeDocument/2006/relationships/image" Target="../media/image3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#kontakt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hyperlink" Target="#kontakt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9.sv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9" Type="http://schemas.openxmlformats.org/officeDocument/2006/relationships/image" Target="../media/image5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83938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D61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Interims-IT &amp; Informationssicherheit für den Mittelstand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141827"/>
            <a:ext cx="75564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Wir stabilisieren Ihre IT, setzen ISMS/NIS-2 pragmatisch um und verankern KI-Governance sicher – mit auditfähigen Ergebnissen.</a:t>
            </a:r>
            <a:endParaRPr lang="en-US" sz="1950" dirty="0"/>
          </a:p>
        </p:txBody>
      </p:sp>
      <p:pic>
        <p:nvPicPr>
          <p:cNvPr id="5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158978"/>
            <a:ext cx="4027527" cy="5457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3790" y="5928003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 Minuten. Klarheit über Ziele, Risiken und Quick Wins. Kein Pitch.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3910" y="772478"/>
            <a:ext cx="3302794" cy="412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Für wen wir arbeiten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03910" y="1460063"/>
            <a:ext cx="13022461" cy="111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Mittelstand, Energie, Automotive, öffentliche Organisationen</a:t>
            </a:r>
            <a:endParaRPr lang="en-US" sz="13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IT-Leitung, CIO, CISO, Compliance, Datenschutz</a:t>
            </a:r>
            <a:endParaRPr lang="en-US" sz="13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Unternehmen unter regulatorischem Druck (NIS-2 / EU AI Act / ISO)</a:t>
            </a:r>
            <a:endParaRPr lang="en-US" sz="130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Teams, die Umsetzung statt Folien brauchen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3910" y="2777847"/>
            <a:ext cx="5291495" cy="412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Ihre aktuellen Herausforderungen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3910" y="3396734"/>
            <a:ext cx="4249222" cy="892016"/>
          </a:xfrm>
          <a:prstGeom prst="roundRect">
            <a:avLst>
              <a:gd name="adj" fmla="val 2777"/>
            </a:avLst>
          </a:prstGeom>
          <a:solidFill>
            <a:srgbClr val="CBD6E6"/>
          </a:solidFill>
          <a:ln w="2286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91910" y="3584734"/>
            <a:ext cx="387322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Fragmentierte IT-Landschaft, Personalengpässe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90530" y="3396734"/>
            <a:ext cx="4249222" cy="892016"/>
          </a:xfrm>
          <a:prstGeom prst="roundRect">
            <a:avLst>
              <a:gd name="adj" fmla="val 2777"/>
            </a:avLst>
          </a:prstGeom>
          <a:solidFill>
            <a:srgbClr val="CBD6E6"/>
          </a:solidFill>
          <a:ln w="2286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378529" y="3584734"/>
            <a:ext cx="387322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Steigende Regulierung → NIS-2, EU AI Act, DSGVO, BSI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577149" y="3396734"/>
            <a:ext cx="4249222" cy="892016"/>
          </a:xfrm>
          <a:prstGeom prst="roundRect">
            <a:avLst>
              <a:gd name="adj" fmla="val 2777"/>
            </a:avLst>
          </a:prstGeom>
          <a:solidFill>
            <a:srgbClr val="CBD6E6"/>
          </a:solidFill>
          <a:ln w="2286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765149" y="3584734"/>
            <a:ext cx="387322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KI-Nutzung ohne Nachweise → Audit-Risiken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3910" y="4426148"/>
            <a:ext cx="6442472" cy="634008"/>
          </a:xfrm>
          <a:prstGeom prst="roundRect">
            <a:avLst>
              <a:gd name="adj" fmla="val 3907"/>
            </a:avLst>
          </a:prstGeom>
          <a:solidFill>
            <a:srgbClr val="CBD6E6"/>
          </a:solidFill>
          <a:ln w="2286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991910" y="4614148"/>
            <a:ext cx="4705350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Fehlende Rollen, Prozesse, Verantwortlichkeiten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83780" y="4426148"/>
            <a:ext cx="6442591" cy="634008"/>
          </a:xfrm>
          <a:prstGeom prst="roundRect">
            <a:avLst>
              <a:gd name="adj" fmla="val 3907"/>
            </a:avLst>
          </a:prstGeom>
          <a:solidFill>
            <a:srgbClr val="CBD6E6"/>
          </a:solidFill>
          <a:ln w="2286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571780" y="4614148"/>
            <a:ext cx="4215884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Erwartung: schnelle, belastbare Ergebnisse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3910" y="5266253"/>
            <a:ext cx="4019788" cy="412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Was Sie mit uns erreichen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03910" y="5885140"/>
            <a:ext cx="4249222" cy="846296"/>
          </a:xfrm>
          <a:prstGeom prst="roundRect">
            <a:avLst>
              <a:gd name="adj" fmla="val 2927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969050" y="6050280"/>
            <a:ext cx="391894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Stabilisierte IT-Prozesse &amp; reibungsloser Betrieb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90530" y="5885140"/>
            <a:ext cx="4249222" cy="846296"/>
          </a:xfrm>
          <a:prstGeom prst="roundRect">
            <a:avLst>
              <a:gd name="adj" fmla="val 2927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355669" y="6050280"/>
            <a:ext cx="391894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ISMS/NIS-2/ISO 42001 sauber, auditfähig implementiert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77149" y="5885140"/>
            <a:ext cx="4249222" cy="846296"/>
          </a:xfrm>
          <a:prstGeom prst="roundRect">
            <a:avLst>
              <a:gd name="adj" fmla="val 2927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9742289" y="6050280"/>
            <a:ext cx="391894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Klarheit im KI-Einsatz (Pflichten, Rollen, Dokumentation)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3910" y="6868835"/>
            <a:ext cx="6442472" cy="588288"/>
          </a:xfrm>
          <a:prstGeom prst="roundRect">
            <a:avLst>
              <a:gd name="adj" fmla="val 4211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969050" y="7033974"/>
            <a:ext cx="4975860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Entlastung für Leitung &amp; Teams – wir setzen mit um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83780" y="6868835"/>
            <a:ext cx="6442591" cy="588288"/>
          </a:xfrm>
          <a:prstGeom prst="roundRect">
            <a:avLst>
              <a:gd name="adj" fmla="val 4211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7548920" y="7033974"/>
            <a:ext cx="4815126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30/60/90-Tage-Ergebnisse, keine langen Projekte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9413" y="892135"/>
            <a:ext cx="2904173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Unsere Kernleistungen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9413" y="1416129"/>
            <a:ext cx="338852" cy="3388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9413" y="1870710"/>
            <a:ext cx="2345055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Interims-IT &amp; Transformation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969413" y="2137886"/>
            <a:ext cx="3486626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Stabilisierung, ITIL v4, Outsourcing/Transition.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1768" y="1416129"/>
            <a:ext cx="338852" cy="3388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71768" y="1870710"/>
            <a:ext cx="3486626" cy="42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Informationssicherheit / ISMS / NIS-2 / ISO 42001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571768" y="2349579"/>
            <a:ext cx="3486626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Gap-Analyse, Implementierung, Audit-/Zertvorbereitung.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74123" y="1416129"/>
            <a:ext cx="338852" cy="3388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74123" y="1870710"/>
            <a:ext cx="2449830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EU AI Act &amp; AI-Literacy (Art. 4)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9174123" y="2137886"/>
            <a:ext cx="3486626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Pflichten, Skill-Matrix, Lernpfade, Nachweise.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9413" y="2717244"/>
            <a:ext cx="338852" cy="3388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69413" y="3171825"/>
            <a:ext cx="2201108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KI Enabler Roadmap (KIeR)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1969413" y="3439001"/>
            <a:ext cx="3486626" cy="365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Strukturierter Kompetenzaufbau &amp; Use-Case-Umsetzung.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1768" y="2717244"/>
            <a:ext cx="338852" cy="3388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571768" y="3171825"/>
            <a:ext cx="1810583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KI Governance System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5571768" y="3439001"/>
            <a:ext cx="3486626" cy="365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Ein klarer, integrierter Ablauf für KI-Compliance &amp; Betrieb.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1969413" y="3942874"/>
            <a:ext cx="2711529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So arbeiten wir</a:t>
            </a:r>
            <a:endParaRPr lang="en-US" sz="2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9413" y="4420553"/>
            <a:ext cx="5345668" cy="54221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104906" y="5055275"/>
            <a:ext cx="1694736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Klarheit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2104906" y="5322451"/>
            <a:ext cx="5074682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30-Minuten-Scoping (Risiken, Prioritäten)</a:t>
            </a:r>
            <a:endParaRPr lang="en-US" sz="10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081" y="4420553"/>
            <a:ext cx="5345787" cy="542211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450574" y="5055275"/>
            <a:ext cx="1694736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Plan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7450574" y="5322451"/>
            <a:ext cx="5074801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30-Tage-Roadmap</a:t>
            </a:r>
            <a:endParaRPr lang="en-US" sz="10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9413" y="5640467"/>
            <a:ext cx="5345668" cy="542211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2104906" y="6275189"/>
            <a:ext cx="1694736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Umsetzung</a:t>
            </a:r>
            <a:endParaRPr lang="en-US" sz="1300" dirty="0"/>
          </a:p>
        </p:txBody>
      </p:sp>
      <p:sp>
        <p:nvSpPr>
          <p:cNvPr id="27" name="Text 17"/>
          <p:cNvSpPr/>
          <p:nvPr/>
        </p:nvSpPr>
        <p:spPr>
          <a:xfrm>
            <a:off x="2104906" y="6542365"/>
            <a:ext cx="5074682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Prozesse, Rollen, Schulung</a:t>
            </a:r>
            <a:endParaRPr lang="en-US" sz="105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081" y="5640467"/>
            <a:ext cx="5345787" cy="542211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7450574" y="6275189"/>
            <a:ext cx="1694736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Nachweis</a:t>
            </a:r>
            <a:endParaRPr lang="en-US" sz="1300" dirty="0"/>
          </a:p>
        </p:txBody>
      </p:sp>
      <p:sp>
        <p:nvSpPr>
          <p:cNvPr id="30" name="Text 19"/>
          <p:cNvSpPr/>
          <p:nvPr/>
        </p:nvSpPr>
        <p:spPr>
          <a:xfrm>
            <a:off x="7450574" y="6542365"/>
            <a:ext cx="5074801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Evidence-Ordner, Audit-Readiness</a:t>
            </a:r>
            <a:endParaRPr lang="en-US" sz="1050" dirty="0"/>
          </a:p>
        </p:txBody>
      </p:sp>
      <p:pic>
        <p:nvPicPr>
          <p:cNvPr id="31" name="Image 9" descr="preencoded.png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69413" y="6964561"/>
            <a:ext cx="2751058" cy="3727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062" y="767001"/>
            <a:ext cx="3440549" cy="430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Social Proof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8062" y="1495187"/>
            <a:ext cx="13254276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Logos:</a:t>
            </a:r>
            <a:r>
              <a:rPr lang="en-US" sz="13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4–6 Kunden / Hochschulen / Partner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46071" y="2087285"/>
            <a:ext cx="12996267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„Komplexes Thema in 6 Wochen auditfähig umgesetzt."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8062" y="1919645"/>
            <a:ext cx="22860" cy="592098"/>
          </a:xfrm>
          <a:prstGeom prst="rect">
            <a:avLst/>
          </a:prstGeom>
          <a:solidFill>
            <a:srgbClr val="2D2D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46071" y="2847023"/>
            <a:ext cx="12996267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„Strukturiert, ruhig, hohe Wirkung im Team."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8062" y="2679383"/>
            <a:ext cx="22860" cy="592098"/>
          </a:xfrm>
          <a:prstGeom prst="rect">
            <a:avLst/>
          </a:prstGeom>
          <a:solidFill>
            <a:srgbClr val="2D2D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88062" y="3495080"/>
            <a:ext cx="2580442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D61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Mini-Case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8062" y="4190167"/>
            <a:ext cx="2150388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4D61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Ausgangslage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88062" y="4607957"/>
            <a:ext cx="409277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Unklare NIS-2-Pflichten, hoher Incident-Druck.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208032" y="4190167"/>
            <a:ext cx="2150388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4D61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Maßnahmen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208032" y="4607957"/>
            <a:ext cx="4092773" cy="513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Gap-Analyse, Rollenmodell, ISMS-Schnellstabilisierung.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728002" y="4190167"/>
            <a:ext cx="2150388" cy="268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4D61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Ergebnis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728002" y="4607957"/>
            <a:ext cx="4229457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40% weniger Incidents, klare Verantwortlichkeiten.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8062" y="5423416"/>
            <a:ext cx="13254276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👉</a:t>
            </a:r>
            <a:r>
              <a:rPr lang="en-US" sz="1350" u="sng" dirty="0">
                <a:solidFill>
                  <a:srgbClr val="2D2D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Mehr Ergebnisse anzeigen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8062" y="5911453"/>
            <a:ext cx="3440549" cy="430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FAQ (Kurz)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88062" y="6565106"/>
            <a:ext cx="13254276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kompakte Fragen über: Unterschiede zur klassischen Beratung, Geschwindigkeit, Remote/Onsite, Tools, Zertifizierungen.</a:t>
            </a:r>
            <a:endParaRPr lang="en-US" sz="1350" dirty="0"/>
          </a:p>
        </p:txBody>
      </p:sp>
      <p:pic>
        <p:nvPicPr>
          <p:cNvPr id="18" name="Image 0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62" y="6989564"/>
            <a:ext cx="3490793" cy="473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9654" y="986671"/>
            <a:ext cx="3141702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D61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Leistungen im Überblick</a:t>
            </a:r>
            <a:endParaRPr lang="en-US" sz="2150" dirty="0"/>
          </a:p>
        </p:txBody>
      </p:sp>
      <p:pic>
        <p:nvPicPr>
          <p:cNvPr id="3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654" y="1456134"/>
            <a:ext cx="2245876" cy="30444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949654" y="1829991"/>
            <a:ext cx="8730972" cy="774621"/>
          </a:xfrm>
          <a:prstGeom prst="roundRect">
            <a:avLst>
              <a:gd name="adj" fmla="val 2144"/>
            </a:avLst>
          </a:prstGeom>
          <a:solidFill>
            <a:srgbClr val="CBD6E6"/>
          </a:solidFill>
          <a:ln w="1524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2"/>
          <p:cNvSpPr/>
          <p:nvPr/>
        </p:nvSpPr>
        <p:spPr>
          <a:xfrm>
            <a:off x="2964894" y="1845231"/>
            <a:ext cx="442793" cy="744141"/>
          </a:xfrm>
          <a:prstGeom prst="rect">
            <a:avLst/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03245" y="2134195"/>
            <a:ext cx="165973" cy="1659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69362" y="1955840"/>
            <a:ext cx="1915001" cy="17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Interims-IT &amp; Transformation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469362" y="2165747"/>
            <a:ext cx="8085415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Stabilisierung, ITIL v4, Outsourcing/Transition, operative Unterstützung.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3469362" y="2340769"/>
            <a:ext cx="8085415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u="sng" dirty="0">
                <a:solidFill>
                  <a:srgbClr val="2D2D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Mehr erfahren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949654" y="2666286"/>
            <a:ext cx="8730972" cy="774621"/>
          </a:xfrm>
          <a:prstGeom prst="roundRect">
            <a:avLst>
              <a:gd name="adj" fmla="val 2144"/>
            </a:avLst>
          </a:prstGeom>
          <a:solidFill>
            <a:srgbClr val="CBD6E6"/>
          </a:solidFill>
          <a:ln w="1524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7"/>
          <p:cNvSpPr/>
          <p:nvPr/>
        </p:nvSpPr>
        <p:spPr>
          <a:xfrm>
            <a:off x="2964894" y="2681526"/>
            <a:ext cx="442793" cy="744141"/>
          </a:xfrm>
          <a:prstGeom prst="rect">
            <a:avLst/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03245" y="2970490"/>
            <a:ext cx="165973" cy="1659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69362" y="2792135"/>
            <a:ext cx="3347085" cy="17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Informationssicherheit &amp; ISMS / NIS-2 / ISO 42001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3469362" y="3002042"/>
            <a:ext cx="8085415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Gap-Analyse, Implementierung, Rollen, Prozesse, Auditvorbereitung.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3469362" y="3177064"/>
            <a:ext cx="8085415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u="sng" dirty="0">
                <a:solidFill>
                  <a:srgbClr val="2D2D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Mehr erfahren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2949654" y="3502581"/>
            <a:ext cx="8730972" cy="774621"/>
          </a:xfrm>
          <a:prstGeom prst="roundRect">
            <a:avLst>
              <a:gd name="adj" fmla="val 2144"/>
            </a:avLst>
          </a:prstGeom>
          <a:solidFill>
            <a:srgbClr val="CBD6E6"/>
          </a:solidFill>
          <a:ln w="1524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2"/>
          <p:cNvSpPr/>
          <p:nvPr/>
        </p:nvSpPr>
        <p:spPr>
          <a:xfrm>
            <a:off x="2964894" y="3517821"/>
            <a:ext cx="442793" cy="744141"/>
          </a:xfrm>
          <a:prstGeom prst="rect">
            <a:avLst/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03245" y="3806785"/>
            <a:ext cx="165973" cy="1659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469362" y="3628430"/>
            <a:ext cx="2000488" cy="17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EU AI Act &amp; AI-Literacy (Art. 4)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3469362" y="3838337"/>
            <a:ext cx="8085415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Pflichten je Risikoklasse, Skill-Matrix, Lernpfade, Nachweise.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3469362" y="4013359"/>
            <a:ext cx="8085415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u="sng" dirty="0">
                <a:solidFill>
                  <a:srgbClr val="2D2D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Mehr erfahren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2949654" y="4338876"/>
            <a:ext cx="8730972" cy="774621"/>
          </a:xfrm>
          <a:prstGeom prst="roundRect">
            <a:avLst>
              <a:gd name="adj" fmla="val 2144"/>
            </a:avLst>
          </a:prstGeom>
          <a:solidFill>
            <a:srgbClr val="CBD6E6"/>
          </a:solidFill>
          <a:ln w="1524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17"/>
          <p:cNvSpPr/>
          <p:nvPr/>
        </p:nvSpPr>
        <p:spPr>
          <a:xfrm>
            <a:off x="2964894" y="4354116"/>
            <a:ext cx="442793" cy="744141"/>
          </a:xfrm>
          <a:prstGeom prst="rect">
            <a:avLst/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03245" y="4643080"/>
            <a:ext cx="165973" cy="16597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469362" y="4464725"/>
            <a:ext cx="1797368" cy="17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KI Enabler Roadmap (KIeR)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3469362" y="4674632"/>
            <a:ext cx="8085415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30/60/90-Tage-Enablement für KI-Kompetenz und Use-Cases.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3469362" y="4849654"/>
            <a:ext cx="8085415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u="sng" dirty="0">
                <a:solidFill>
                  <a:srgbClr val="2D2D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Mehr erfahren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2949654" y="5175171"/>
            <a:ext cx="8730972" cy="774621"/>
          </a:xfrm>
          <a:prstGeom prst="roundRect">
            <a:avLst>
              <a:gd name="adj" fmla="val 2144"/>
            </a:avLst>
          </a:prstGeom>
          <a:solidFill>
            <a:srgbClr val="CBD6E6"/>
          </a:solidFill>
          <a:ln w="1524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2"/>
          <p:cNvSpPr/>
          <p:nvPr/>
        </p:nvSpPr>
        <p:spPr>
          <a:xfrm>
            <a:off x="2964894" y="5190411"/>
            <a:ext cx="442793" cy="744141"/>
          </a:xfrm>
          <a:prstGeom prst="rect">
            <a:avLst/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03245" y="5479375"/>
            <a:ext cx="165973" cy="16597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469362" y="5301020"/>
            <a:ext cx="1478518" cy="17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KI Governance System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3469362" y="5510927"/>
            <a:ext cx="8085415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Ein integrierter KI-Betriebsrahmen: Prozesse, Kontrollen, Oversight.</a:t>
            </a:r>
            <a:endParaRPr lang="en-US" sz="850" dirty="0"/>
          </a:p>
        </p:txBody>
      </p:sp>
      <p:sp>
        <p:nvSpPr>
          <p:cNvPr id="33" name="Text 25"/>
          <p:cNvSpPr/>
          <p:nvPr/>
        </p:nvSpPr>
        <p:spPr>
          <a:xfrm>
            <a:off x="3469362" y="5685949"/>
            <a:ext cx="8085415" cy="137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u="sng" dirty="0">
                <a:solidFill>
                  <a:srgbClr val="2D2D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Mehr erfahren</a:t>
            </a:r>
            <a:endParaRPr lang="en-US" sz="850" dirty="0"/>
          </a:p>
        </p:txBody>
      </p:sp>
      <p:sp>
        <p:nvSpPr>
          <p:cNvPr id="34" name="Text 26"/>
          <p:cNvSpPr/>
          <p:nvPr/>
        </p:nvSpPr>
        <p:spPr>
          <a:xfrm>
            <a:off x="2949654" y="6042422"/>
            <a:ext cx="221432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Weitere Themen</a:t>
            </a:r>
            <a:endParaRPr lang="en-US" sz="1700" dirty="0"/>
          </a:p>
        </p:txBody>
      </p:sp>
      <p:sp>
        <p:nvSpPr>
          <p:cNvPr id="35" name="Text 27"/>
          <p:cNvSpPr/>
          <p:nvPr/>
        </p:nvSpPr>
        <p:spPr>
          <a:xfrm>
            <a:off x="2949654" y="6411873"/>
            <a:ext cx="8730972" cy="457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DSGVO / BSI / ISO 27001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IT-Strategie &amp; Sourcing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Serviceprozesse &amp; Governance</a:t>
            </a:r>
            <a:endParaRPr lang="en-US" sz="850" dirty="0"/>
          </a:p>
        </p:txBody>
      </p:sp>
      <p:pic>
        <p:nvPicPr>
          <p:cNvPr id="36" name="Image 6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654" y="6938367"/>
            <a:ext cx="2245876" cy="3044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272891"/>
            <a:ext cx="358592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D61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EU AI Act &amp; AI-Literacy (Art. 4)</a:t>
            </a:r>
            <a:endParaRPr lang="en-US" sz="1950" dirty="0"/>
          </a:p>
        </p:txBody>
      </p:sp>
      <p:pic>
        <p:nvPicPr>
          <p:cNvPr id="3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49" y="682228"/>
            <a:ext cx="2013823" cy="2728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02449" y="1029533"/>
            <a:ext cx="353282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Warum Unternehmen uns hier buchen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3402449" y="1406485"/>
            <a:ext cx="49530" cy="49530"/>
          </a:xfrm>
          <a:prstGeom prst="roundRect">
            <a:avLst>
              <a:gd name="adj" fmla="val 923077"/>
            </a:avLst>
          </a:prstGeom>
          <a:solidFill>
            <a:srgbClr val="2D2D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3501509" y="1351955"/>
            <a:ext cx="772644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Unklare Risikoklassen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3402449" y="1634490"/>
            <a:ext cx="49530" cy="49530"/>
          </a:xfrm>
          <a:prstGeom prst="roundRect">
            <a:avLst>
              <a:gd name="adj" fmla="val 923077"/>
            </a:avLst>
          </a:prstGeom>
          <a:solidFill>
            <a:srgbClr val="2D2D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3501509" y="1579959"/>
            <a:ext cx="772644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Viele Tools, keine Nachweise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402449" y="1862495"/>
            <a:ext cx="49530" cy="49530"/>
          </a:xfrm>
          <a:prstGeom prst="roundRect">
            <a:avLst>
              <a:gd name="adj" fmla="val 923077"/>
            </a:avLst>
          </a:prstGeom>
          <a:solidFill>
            <a:srgbClr val="2D2D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3501509" y="1807964"/>
            <a:ext cx="772644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Mitarbeitende nutzen KI ohne Kompetenzmessung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402449" y="2090499"/>
            <a:ext cx="49530" cy="49530"/>
          </a:xfrm>
          <a:prstGeom prst="roundRect">
            <a:avLst>
              <a:gd name="adj" fmla="val 923077"/>
            </a:avLst>
          </a:prstGeom>
          <a:solidFill>
            <a:srgbClr val="2D2D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3501509" y="2035969"/>
            <a:ext cx="772644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Prüffragen unklar → Risiko für Audits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402449" y="2318504"/>
            <a:ext cx="49530" cy="49530"/>
          </a:xfrm>
          <a:prstGeom prst="roundRect">
            <a:avLst>
              <a:gd name="adj" fmla="val 923077"/>
            </a:avLst>
          </a:prstGeom>
          <a:solidFill>
            <a:srgbClr val="2D2D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3501509" y="2263973"/>
            <a:ext cx="772644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Hoher Zeitdruck durch EU AI Act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402449" y="2467213"/>
            <a:ext cx="342257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Pflichten-Check (kompakt &amp; präzise)</a:t>
            </a:r>
            <a:endParaRPr lang="en-US" sz="15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2449" y="2802017"/>
            <a:ext cx="99179" cy="99179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402449" y="2942868"/>
            <a:ext cx="2575441" cy="15240"/>
          </a:xfrm>
          <a:prstGeom prst="rect">
            <a:avLst/>
          </a:prstGeom>
          <a:solidFill>
            <a:srgbClr val="2D2D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4"/>
          <p:cNvSpPr/>
          <p:nvPr/>
        </p:nvSpPr>
        <p:spPr>
          <a:xfrm>
            <a:off x="3402449" y="3022878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Use-Case-Inventar</a:t>
            </a:r>
            <a:endParaRPr lang="en-US" sz="9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7420" y="2802017"/>
            <a:ext cx="99179" cy="99179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027420" y="2942868"/>
            <a:ext cx="2575441" cy="15240"/>
          </a:xfrm>
          <a:prstGeom prst="rect">
            <a:avLst/>
          </a:prstGeom>
          <a:solidFill>
            <a:srgbClr val="2D2D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6"/>
          <p:cNvSpPr/>
          <p:nvPr/>
        </p:nvSpPr>
        <p:spPr>
          <a:xfrm>
            <a:off x="6027420" y="3022878"/>
            <a:ext cx="2575441" cy="310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Risikoklassen (unzulässig / gering / hoch / GPAI)</a:t>
            </a:r>
            <a:endParaRPr lang="en-US" sz="9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52391" y="2802017"/>
            <a:ext cx="99179" cy="99179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652391" y="2942868"/>
            <a:ext cx="2575560" cy="15240"/>
          </a:xfrm>
          <a:prstGeom prst="rect">
            <a:avLst/>
          </a:prstGeom>
          <a:solidFill>
            <a:srgbClr val="2D2D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18"/>
          <p:cNvSpPr/>
          <p:nvPr/>
        </p:nvSpPr>
        <p:spPr>
          <a:xfrm>
            <a:off x="8652391" y="3022878"/>
            <a:ext cx="2575560" cy="310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Pflichten je Case (Daten, Transparenz, Oversight)</a:t>
            </a:r>
            <a:endParaRPr lang="en-US" sz="9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2449" y="3469243"/>
            <a:ext cx="99179" cy="99179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3402449" y="3610094"/>
            <a:ext cx="3887986" cy="15240"/>
          </a:xfrm>
          <a:prstGeom prst="rect">
            <a:avLst/>
          </a:prstGeom>
          <a:solidFill>
            <a:srgbClr val="2D2D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0"/>
          <p:cNvSpPr/>
          <p:nvPr/>
        </p:nvSpPr>
        <p:spPr>
          <a:xfrm>
            <a:off x="3402449" y="3690104"/>
            <a:ext cx="217896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AI-Literacy nach Art. 4 (rollenbasiert)</a:t>
            </a:r>
            <a:endParaRPr lang="en-US" sz="9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39965" y="3469243"/>
            <a:ext cx="99179" cy="99179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339965" y="3610094"/>
            <a:ext cx="3887986" cy="15240"/>
          </a:xfrm>
          <a:prstGeom prst="rect">
            <a:avLst/>
          </a:prstGeom>
          <a:solidFill>
            <a:srgbClr val="2D2D2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2"/>
          <p:cNvSpPr/>
          <p:nvPr/>
        </p:nvSpPr>
        <p:spPr>
          <a:xfrm>
            <a:off x="7339965" y="3690104"/>
            <a:ext cx="15070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Dokumentation &amp; Evidenz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3402449" y="3975259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CTA:</a:t>
            </a: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Pflichten-Check starten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3402449" y="4168616"/>
            <a:ext cx="261818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Rollen &amp; Skill-Matrix (Art. 4)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3402449" y="4535686"/>
            <a:ext cx="1371481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Management:</a:t>
            </a:r>
            <a:endParaRPr lang="en-US" sz="750" dirty="0"/>
          </a:p>
        </p:txBody>
      </p:sp>
      <p:sp>
        <p:nvSpPr>
          <p:cNvPr id="34" name="Text 26"/>
          <p:cNvSpPr/>
          <p:nvPr/>
        </p:nvSpPr>
        <p:spPr>
          <a:xfrm>
            <a:off x="3402449" y="4699278"/>
            <a:ext cx="1371481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Fachbereiche:</a:t>
            </a:r>
            <a:endParaRPr lang="en-US" sz="750" dirty="0"/>
          </a:p>
        </p:txBody>
      </p:sp>
      <p:sp>
        <p:nvSpPr>
          <p:cNvPr id="35" name="Text 27"/>
          <p:cNvSpPr/>
          <p:nvPr/>
        </p:nvSpPr>
        <p:spPr>
          <a:xfrm>
            <a:off x="3402449" y="4862870"/>
            <a:ext cx="1371481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IT/Security:</a:t>
            </a:r>
            <a:endParaRPr lang="en-US" sz="750" dirty="0"/>
          </a:p>
        </p:txBody>
      </p:sp>
      <p:sp>
        <p:nvSpPr>
          <p:cNvPr id="36" name="Text 28"/>
          <p:cNvSpPr/>
          <p:nvPr/>
        </p:nvSpPr>
        <p:spPr>
          <a:xfrm>
            <a:off x="3402449" y="5026462"/>
            <a:ext cx="1371481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Legal/DSB:</a:t>
            </a:r>
            <a:endParaRPr lang="en-US" sz="750" dirty="0"/>
          </a:p>
        </p:txBody>
      </p:sp>
      <p:sp>
        <p:nvSpPr>
          <p:cNvPr id="37" name="Text 29"/>
          <p:cNvSpPr/>
          <p:nvPr/>
        </p:nvSpPr>
        <p:spPr>
          <a:xfrm>
            <a:off x="3402449" y="5190053"/>
            <a:ext cx="1371481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Entwicklung:</a:t>
            </a:r>
            <a:endParaRPr lang="en-US" sz="750" dirty="0"/>
          </a:p>
        </p:txBody>
      </p:sp>
      <p:sp>
        <p:nvSpPr>
          <p:cNvPr id="38" name="Text 30"/>
          <p:cNvSpPr/>
          <p:nvPr/>
        </p:nvSpPr>
        <p:spPr>
          <a:xfrm>
            <a:off x="5023485" y="4535686"/>
            <a:ext cx="6211967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Strategie, Risikoakzeptanz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5023485" y="4699278"/>
            <a:ext cx="6211967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sicherer KI-Einsatz</a:t>
            </a:r>
            <a:endParaRPr lang="en-US" sz="750" dirty="0"/>
          </a:p>
        </p:txBody>
      </p:sp>
      <p:sp>
        <p:nvSpPr>
          <p:cNvPr id="40" name="Text 32"/>
          <p:cNvSpPr/>
          <p:nvPr/>
        </p:nvSpPr>
        <p:spPr>
          <a:xfrm>
            <a:off x="5023485" y="4862870"/>
            <a:ext cx="6211967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Kontrollen, Logging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5023485" y="5026462"/>
            <a:ext cx="6211967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DPIA, Freigaben</a:t>
            </a:r>
            <a:endParaRPr lang="en-US" sz="750" dirty="0"/>
          </a:p>
        </p:txBody>
      </p:sp>
      <p:sp>
        <p:nvSpPr>
          <p:cNvPr id="42" name="Text 34"/>
          <p:cNvSpPr/>
          <p:nvPr/>
        </p:nvSpPr>
        <p:spPr>
          <a:xfrm>
            <a:off x="5023485" y="5190053"/>
            <a:ext cx="6211967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Tests, Evaluierung, Monitoring</a:t>
            </a:r>
            <a:endParaRPr lang="en-US" sz="750" dirty="0"/>
          </a:p>
        </p:txBody>
      </p:sp>
      <p:sp>
        <p:nvSpPr>
          <p:cNvPr id="43" name="Text 35"/>
          <p:cNvSpPr/>
          <p:nvPr/>
        </p:nvSpPr>
        <p:spPr>
          <a:xfrm>
            <a:off x="3402449" y="5409367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Output:</a:t>
            </a: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Skill-Matrix + Lernpfade + Prüfbausteine</a:t>
            </a:r>
            <a:endParaRPr lang="en-US" sz="750" dirty="0"/>
          </a:p>
        </p:txBody>
      </p:sp>
      <p:sp>
        <p:nvSpPr>
          <p:cNvPr id="44" name="Text 36"/>
          <p:cNvSpPr/>
          <p:nvPr/>
        </p:nvSpPr>
        <p:spPr>
          <a:xfrm>
            <a:off x="3402449" y="5602724"/>
            <a:ext cx="205787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Lernpfade (praxisnah)</a:t>
            </a:r>
            <a:endParaRPr lang="en-US" sz="1550" dirty="0"/>
          </a:p>
        </p:txBody>
      </p:sp>
      <p:sp>
        <p:nvSpPr>
          <p:cNvPr id="45" name="Text 37"/>
          <p:cNvSpPr/>
          <p:nvPr/>
        </p:nvSpPr>
        <p:spPr>
          <a:xfrm>
            <a:off x="3402449" y="5925145"/>
            <a:ext cx="7825502" cy="527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Grundlagen für alle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Rollenpfade (Management, IT, Legal, Fachbereich)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High-Risk &amp; GPAI Vertiefungen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Optional: TÜV-Personenzertifikat „KI-Mitarbeiterkompetenz"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3402449" y="6527125"/>
            <a:ext cx="280320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Nachweise &amp; Audit-Readiness</a:t>
            </a:r>
            <a:endParaRPr lang="en-US" sz="1550" dirty="0"/>
          </a:p>
        </p:txBody>
      </p:sp>
      <p:sp>
        <p:nvSpPr>
          <p:cNvPr id="47" name="Text 39"/>
          <p:cNvSpPr/>
          <p:nvPr/>
        </p:nvSpPr>
        <p:spPr>
          <a:xfrm>
            <a:off x="3402449" y="6849547"/>
            <a:ext cx="7825502" cy="527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Teilnahme- &amp; Kompetenznachweise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SOPs, Freigaben, Protokolle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Evidence-Ordner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Dry-Run-Audit mit Prüffragen</a:t>
            </a:r>
            <a:endParaRPr lang="en-US" sz="750" dirty="0"/>
          </a:p>
        </p:txBody>
      </p:sp>
      <p:sp>
        <p:nvSpPr>
          <p:cNvPr id="48" name="Text 40"/>
          <p:cNvSpPr/>
          <p:nvPr/>
        </p:nvSpPr>
        <p:spPr>
          <a:xfrm>
            <a:off x="3402449" y="745152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Vorgehen (30/60/90)</a:t>
            </a:r>
            <a:endParaRPr lang="en-US" sz="1550" dirty="0"/>
          </a:p>
        </p:txBody>
      </p:sp>
      <p:sp>
        <p:nvSpPr>
          <p:cNvPr id="49" name="Shape 41"/>
          <p:cNvSpPr/>
          <p:nvPr/>
        </p:nvSpPr>
        <p:spPr>
          <a:xfrm>
            <a:off x="3402449" y="7773948"/>
            <a:ext cx="2575441" cy="297656"/>
          </a:xfrm>
          <a:prstGeom prst="roundRect">
            <a:avLst>
              <a:gd name="adj" fmla="val 480089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15696" y="7848362"/>
            <a:ext cx="148828" cy="14882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3501628" y="8121134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30 Tage</a:t>
            </a:r>
            <a:endParaRPr lang="en-US" sz="950" dirty="0"/>
          </a:p>
        </p:txBody>
      </p:sp>
      <p:sp>
        <p:nvSpPr>
          <p:cNvPr id="52" name="Text 43"/>
          <p:cNvSpPr/>
          <p:nvPr/>
        </p:nvSpPr>
        <p:spPr>
          <a:xfrm>
            <a:off x="3501628" y="8305919"/>
            <a:ext cx="237708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Inventar, Pflichten</a:t>
            </a:r>
            <a:endParaRPr lang="en-US" sz="750" dirty="0"/>
          </a:p>
        </p:txBody>
      </p:sp>
      <p:sp>
        <p:nvSpPr>
          <p:cNvPr id="53" name="Shape 44"/>
          <p:cNvSpPr/>
          <p:nvPr/>
        </p:nvSpPr>
        <p:spPr>
          <a:xfrm>
            <a:off x="6027420" y="7773948"/>
            <a:ext cx="2575441" cy="297656"/>
          </a:xfrm>
          <a:prstGeom prst="roundRect">
            <a:avLst>
              <a:gd name="adj" fmla="val 480089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40667" y="7848362"/>
            <a:ext cx="148828" cy="148828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6126599" y="8121134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60 Tage</a:t>
            </a:r>
            <a:endParaRPr lang="en-US" sz="950" dirty="0"/>
          </a:p>
        </p:txBody>
      </p:sp>
      <p:sp>
        <p:nvSpPr>
          <p:cNvPr id="56" name="Text 46"/>
          <p:cNvSpPr/>
          <p:nvPr/>
        </p:nvSpPr>
        <p:spPr>
          <a:xfrm>
            <a:off x="6126599" y="8305919"/>
            <a:ext cx="237708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Lernpfade, SOPs</a:t>
            </a:r>
            <a:endParaRPr lang="en-US" sz="750" dirty="0"/>
          </a:p>
        </p:txBody>
      </p:sp>
      <p:sp>
        <p:nvSpPr>
          <p:cNvPr id="57" name="Shape 47"/>
          <p:cNvSpPr/>
          <p:nvPr/>
        </p:nvSpPr>
        <p:spPr>
          <a:xfrm>
            <a:off x="8652391" y="7773948"/>
            <a:ext cx="2575560" cy="297656"/>
          </a:xfrm>
          <a:prstGeom prst="roundRect">
            <a:avLst>
              <a:gd name="adj" fmla="val 480089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65757" y="7848362"/>
            <a:ext cx="148828" cy="148828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8751570" y="8121134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90 Tage</a:t>
            </a:r>
            <a:endParaRPr lang="en-US" sz="950" dirty="0"/>
          </a:p>
        </p:txBody>
      </p:sp>
      <p:sp>
        <p:nvSpPr>
          <p:cNvPr id="60" name="Text 49"/>
          <p:cNvSpPr/>
          <p:nvPr/>
        </p:nvSpPr>
        <p:spPr>
          <a:xfrm>
            <a:off x="8751570" y="8305919"/>
            <a:ext cx="23772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Dry-Run-Audit</a:t>
            </a:r>
            <a:endParaRPr lang="en-US" sz="750" dirty="0"/>
          </a:p>
        </p:txBody>
      </p:sp>
      <p:pic>
        <p:nvPicPr>
          <p:cNvPr id="61" name="Image 9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49" y="8579763"/>
            <a:ext cx="2013823" cy="2728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272891"/>
            <a:ext cx="262473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D61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ISO/IEC 42001 (AIMS)</a:t>
            </a:r>
            <a:endParaRPr lang="en-US" sz="1950" dirty="0"/>
          </a:p>
        </p:txBody>
      </p:sp>
      <p:pic>
        <p:nvPicPr>
          <p:cNvPr id="3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49" y="682228"/>
            <a:ext cx="2013823" cy="2728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02449" y="102953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Warum ISO 42001?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3402449" y="1351955"/>
            <a:ext cx="3887986" cy="347782"/>
          </a:xfrm>
          <a:prstGeom prst="roundRect">
            <a:avLst>
              <a:gd name="adj" fmla="val 4280"/>
            </a:avLst>
          </a:prstGeom>
          <a:solidFill>
            <a:srgbClr val="CBD6E6"/>
          </a:solidFill>
          <a:ln w="1524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3516868" y="1466374"/>
            <a:ext cx="365914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 bald überall – aber ohne Managementsystem riskant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7339965" y="1351955"/>
            <a:ext cx="3887986" cy="347782"/>
          </a:xfrm>
          <a:prstGeom prst="roundRect">
            <a:avLst>
              <a:gd name="adj" fmla="val 4280"/>
            </a:avLst>
          </a:prstGeom>
          <a:solidFill>
            <a:srgbClr val="CBD6E6"/>
          </a:solidFill>
          <a:ln w="1524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7454384" y="1466374"/>
            <a:ext cx="365914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EU AI Act kompatibel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402449" y="1749266"/>
            <a:ext cx="3887986" cy="347782"/>
          </a:xfrm>
          <a:prstGeom prst="roundRect">
            <a:avLst>
              <a:gd name="adj" fmla="val 4280"/>
            </a:avLst>
          </a:prstGeom>
          <a:solidFill>
            <a:srgbClr val="CBD6E6"/>
          </a:solidFill>
          <a:ln w="1524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3516868" y="1863685"/>
            <a:ext cx="365914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Ergänzt ISMS (ISO 27001) perfekt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7339965" y="1749266"/>
            <a:ext cx="3887986" cy="347782"/>
          </a:xfrm>
          <a:prstGeom prst="roundRect">
            <a:avLst>
              <a:gd name="adj" fmla="val 4280"/>
            </a:avLst>
          </a:prstGeom>
          <a:solidFill>
            <a:srgbClr val="CBD6E6"/>
          </a:solidFill>
          <a:ln w="1524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7454384" y="1863685"/>
            <a:ext cx="365914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Klare Rollen, Prozesse, Kontrollen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402449" y="2171462"/>
            <a:ext cx="246542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Kernbausteine eines AIMS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606171" y="2823210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Kontext &amp; Scope</a:t>
            </a:r>
            <a:endParaRPr lang="en-US" sz="9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5743" y="2493883"/>
            <a:ext cx="2738914" cy="2738914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1519" y="2888635"/>
            <a:ext cx="148471" cy="14847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83836" y="2823210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Führung &amp; Rollen</a:t>
            </a:r>
            <a:endParaRPr lang="en-US" sz="9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5743" y="2493883"/>
            <a:ext cx="2738914" cy="2738914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5803" y="3053536"/>
            <a:ext cx="148471" cy="14847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831911" y="3785711"/>
            <a:ext cx="1371719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Planung (Risiken, KPIs)</a:t>
            </a:r>
            <a:endParaRPr lang="en-US" sz="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5743" y="2493883"/>
            <a:ext cx="2738914" cy="2738914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85249" y="3953768"/>
            <a:ext cx="148471" cy="148471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783836" y="4748332"/>
            <a:ext cx="2198489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Betrieb (Kontrollen, Oversight, Daten)</a:t>
            </a:r>
            <a:endParaRPr lang="en-US" sz="9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5743" y="2493883"/>
            <a:ext cx="2738914" cy="2738914"/>
          </a:xfrm>
          <a:prstGeom prst="rect">
            <a:avLst/>
          </a:prstGeom>
        </p:spPr>
      </p:pic>
      <p:pic>
        <p:nvPicPr>
          <p:cNvPr id="2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70291" y="4689217"/>
            <a:ext cx="148471" cy="148471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4019907" y="4748332"/>
            <a:ext cx="1826657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Bewertung (Audits, Monitoring)</a:t>
            </a:r>
            <a:endParaRPr lang="en-US" sz="9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5743" y="2493883"/>
            <a:ext cx="2738914" cy="2738914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26007" y="4524315"/>
            <a:ext cx="148471" cy="148471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4506992" y="3785711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Verbesserung</a:t>
            </a:r>
            <a:endParaRPr lang="en-US" sz="95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45743" y="2493883"/>
            <a:ext cx="2738914" cy="2738914"/>
          </a:xfrm>
          <a:prstGeom prst="rect">
            <a:avLst/>
          </a:prstGeom>
        </p:spPr>
      </p:pic>
      <p:pic>
        <p:nvPicPr>
          <p:cNvPr id="3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96561" y="3624084"/>
            <a:ext cx="148471" cy="148471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340578" y="2099827"/>
            <a:ext cx="205466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Prozesse &amp; Kontrollen</a:t>
            </a:r>
            <a:endParaRPr lang="en-US" sz="1550" dirty="0"/>
          </a:p>
        </p:txBody>
      </p:sp>
      <p:sp>
        <p:nvSpPr>
          <p:cNvPr id="33" name="Text 18"/>
          <p:cNvSpPr/>
          <p:nvPr/>
        </p:nvSpPr>
        <p:spPr>
          <a:xfrm>
            <a:off x="4091523" y="5254373"/>
            <a:ext cx="7825502" cy="663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Use-Case-Lifecycle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Daten-/Modell-Governance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Evaluierung &amp; Tests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Incident/Change für KI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Dokumentation &amp; Transparenz</a:t>
            </a:r>
            <a:endParaRPr lang="en-US" sz="750" dirty="0"/>
          </a:p>
        </p:txBody>
      </p:sp>
      <p:sp>
        <p:nvSpPr>
          <p:cNvPr id="34" name="Text 19"/>
          <p:cNvSpPr/>
          <p:nvPr/>
        </p:nvSpPr>
        <p:spPr>
          <a:xfrm>
            <a:off x="340578" y="3160436"/>
            <a:ext cx="302383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Integration mit ISMS / EU AI Act</a:t>
            </a:r>
            <a:endParaRPr lang="en-US" sz="1550" dirty="0"/>
          </a:p>
        </p:txBody>
      </p:sp>
      <p:sp>
        <p:nvSpPr>
          <p:cNvPr id="35" name="Text 20"/>
          <p:cNvSpPr/>
          <p:nvPr/>
        </p:nvSpPr>
        <p:spPr>
          <a:xfrm>
            <a:off x="4091523" y="6359630"/>
            <a:ext cx="379178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Gemeinsame Rollen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Zusammenhängende Prozesse</a:t>
            </a:r>
            <a:endParaRPr lang="en-US" sz="750" dirty="0"/>
          </a:p>
        </p:txBody>
      </p:sp>
      <p:sp>
        <p:nvSpPr>
          <p:cNvPr id="36" name="Text 21"/>
          <p:cNvSpPr/>
          <p:nvPr/>
        </p:nvSpPr>
        <p:spPr>
          <a:xfrm>
            <a:off x="8783836" y="5455682"/>
            <a:ext cx="379178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Weniger Doppelarbeit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Ein einziger Evidence-Ordner</a:t>
            </a:r>
            <a:endParaRPr lang="en-US" sz="750" dirty="0"/>
          </a:p>
        </p:txBody>
      </p:sp>
      <p:sp>
        <p:nvSpPr>
          <p:cNvPr id="37" name="Text 22"/>
          <p:cNvSpPr/>
          <p:nvPr/>
        </p:nvSpPr>
        <p:spPr>
          <a:xfrm>
            <a:off x="340578" y="3874334"/>
            <a:ext cx="266283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Zertifizierungs-Vorbereitung</a:t>
            </a:r>
            <a:endParaRPr lang="en-US" sz="155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0578" y="4196756"/>
            <a:ext cx="496133" cy="595313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886241" y="4295935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Gap-Analyse</a:t>
            </a:r>
            <a:endParaRPr lang="en-US" sz="95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0578" y="4792068"/>
            <a:ext cx="496133" cy="595313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886241" y="4891247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Roadmap</a:t>
            </a:r>
            <a:endParaRPr lang="en-US" sz="950" dirty="0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0578" y="5387381"/>
            <a:ext cx="496133" cy="595313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886241" y="5486560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Implementierung</a:t>
            </a:r>
            <a:endParaRPr lang="en-US" sz="950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0578" y="5982693"/>
            <a:ext cx="496133" cy="595313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886241" y="6081872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Management-Review</a:t>
            </a:r>
            <a:endParaRPr lang="en-US" sz="950" dirty="0"/>
          </a:p>
        </p:txBody>
      </p:sp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0578" y="6578006"/>
            <a:ext cx="496133" cy="595313"/>
          </a:xfrm>
          <a:prstGeom prst="rect">
            <a:avLst/>
          </a:prstGeom>
        </p:spPr>
      </p:pic>
      <p:sp>
        <p:nvSpPr>
          <p:cNvPr id="47" name="Text 27"/>
          <p:cNvSpPr/>
          <p:nvPr/>
        </p:nvSpPr>
        <p:spPr>
          <a:xfrm>
            <a:off x="886241" y="6677185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Auditvorbereitung</a:t>
            </a:r>
            <a:endParaRPr lang="en-US" sz="950" dirty="0"/>
          </a:p>
        </p:txBody>
      </p:sp>
      <p:pic>
        <p:nvPicPr>
          <p:cNvPr id="48" name="Image 18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78" y="7229039"/>
            <a:ext cx="2013823" cy="2728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206" y="987981"/>
            <a:ext cx="3062526" cy="358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4D61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KI Governance System</a:t>
            </a:r>
            <a:endParaRPr lang="en-US" sz="2250" dirty="0"/>
          </a:p>
        </p:txBody>
      </p:sp>
      <p:pic>
        <p:nvPicPr>
          <p:cNvPr id="3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206" y="1478875"/>
            <a:ext cx="2328029" cy="3152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93206" y="1893451"/>
            <a:ext cx="3508772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Warum ein Governance-System?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793206" y="2279452"/>
            <a:ext cx="258008" cy="258008"/>
          </a:xfrm>
          <a:prstGeom prst="roundRect">
            <a:avLst>
              <a:gd name="adj" fmla="val 6668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3117413" y="2316718"/>
            <a:ext cx="871978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Viele Regeln – aber kein gemeinsamer Ablauf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93206" y="2669977"/>
            <a:ext cx="258008" cy="258008"/>
          </a:xfrm>
          <a:prstGeom prst="roundRect">
            <a:avLst>
              <a:gd name="adj" fmla="val 6668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3117413" y="2707243"/>
            <a:ext cx="871978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KI-Piloten entstehen, aber ohne Freigaben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93206" y="3060502"/>
            <a:ext cx="258008" cy="258008"/>
          </a:xfrm>
          <a:prstGeom prst="roundRect">
            <a:avLst>
              <a:gd name="adj" fmla="val 6668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3117413" y="3097768"/>
            <a:ext cx="871978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Prüffragen nicht beantwortbar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93206" y="3451027"/>
            <a:ext cx="258008" cy="258008"/>
          </a:xfrm>
          <a:prstGeom prst="roundRect">
            <a:avLst>
              <a:gd name="adj" fmla="val 6668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3117413" y="3488293"/>
            <a:ext cx="871978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Rollen &amp; Prozesse fehlen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93206" y="3841552"/>
            <a:ext cx="258008" cy="258008"/>
          </a:xfrm>
          <a:prstGeom prst="roundRect">
            <a:avLst>
              <a:gd name="adj" fmla="val 6668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3117413" y="3878818"/>
            <a:ext cx="871978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Risiken werden zufällig gemanagt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93206" y="4198858"/>
            <a:ext cx="3242310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Bausteine (klar &amp; strukturiert)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793206" y="4644390"/>
            <a:ext cx="4382095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Policy-Set KI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Use-Case-Lifecycle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Rollen &amp; RACI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Kontrollkatalog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462718" y="4644390"/>
            <a:ext cx="4382095" cy="81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Modellkarten &amp; Datenblätter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Oversight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Monitoring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Evidence-Ordner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KPI-Reporting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93206" y="5582483"/>
            <a:ext cx="2293739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Operating Model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2793206" y="5968484"/>
            <a:ext cx="2970490" cy="408503"/>
          </a:xfrm>
          <a:prstGeom prst="roundRect">
            <a:avLst>
              <a:gd name="adj" fmla="val 4211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2907863" y="6083141"/>
            <a:ext cx="1487329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Governance-Gremium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29895" y="5968484"/>
            <a:ext cx="2970490" cy="408503"/>
          </a:xfrm>
          <a:prstGeom prst="roundRect">
            <a:avLst>
              <a:gd name="adj" fmla="val 4211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5944553" y="6083141"/>
            <a:ext cx="1433513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Servicekatalog KI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866584" y="5968484"/>
            <a:ext cx="2970609" cy="408503"/>
          </a:xfrm>
          <a:prstGeom prst="roundRect">
            <a:avLst>
              <a:gd name="adj" fmla="val 4211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8981242" y="6083141"/>
            <a:ext cx="1669256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Change &amp; Incident für KI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93206" y="6443186"/>
            <a:ext cx="4488894" cy="408503"/>
          </a:xfrm>
          <a:prstGeom prst="roundRect">
            <a:avLst>
              <a:gd name="adj" fmla="val 4211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3"/>
          <p:cNvSpPr/>
          <p:nvPr/>
        </p:nvSpPr>
        <p:spPr>
          <a:xfrm>
            <a:off x="2907863" y="6557843"/>
            <a:ext cx="1433513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Freigaben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348299" y="6443186"/>
            <a:ext cx="4488894" cy="408503"/>
          </a:xfrm>
          <a:prstGeom prst="roundRect">
            <a:avLst>
              <a:gd name="adj" fmla="val 4211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/>
          <p:nvPr/>
        </p:nvSpPr>
        <p:spPr>
          <a:xfrm>
            <a:off x="7462957" y="6557843"/>
            <a:ext cx="1433513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Eskalationen</a:t>
            </a:r>
            <a:endParaRPr lang="en-US" sz="1100" dirty="0"/>
          </a:p>
        </p:txBody>
      </p:sp>
      <p:pic>
        <p:nvPicPr>
          <p:cNvPr id="29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206" y="6926223"/>
            <a:ext cx="2328029" cy="3152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1374" y="892612"/>
            <a:ext cx="318123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D6181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KI-Governance-Ökosystem</a:t>
            </a:r>
            <a:endParaRPr lang="en-US" sz="1950" dirty="0"/>
          </a:p>
        </p:txBody>
      </p:sp>
      <p:pic>
        <p:nvPicPr>
          <p:cNvPr id="3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374" y="1305878"/>
            <a:ext cx="2028587" cy="2750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71374" y="1656517"/>
            <a:ext cx="264414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Regulatorisches Gesamtbild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3371374" y="1982153"/>
            <a:ext cx="7887533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EU AI Act • ISO 42001 • ISO 27001 • DSGVO</a:t>
            </a:r>
            <a:endParaRPr lang="en-US" sz="750" dirty="0"/>
          </a:p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BSI • GPAI • ITIL • ISO 31000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371374" y="2279333"/>
            <a:ext cx="7887533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Alle wirken zusammen – wir verbinden sie zu einem einzigen System.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371374" y="2475190"/>
            <a:ext cx="200048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Architektur (5 Layer)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371374" y="2800826"/>
            <a:ext cx="788670" cy="356235"/>
          </a:xfrm>
          <a:prstGeom prst="roundRect">
            <a:avLst>
              <a:gd name="adj" fmla="val 4212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95343" y="2908578"/>
            <a:ext cx="140613" cy="1406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60056" y="2900839"/>
            <a:ext cx="700207" cy="156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Governance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210050" y="3153251"/>
            <a:ext cx="6998851" cy="7620"/>
          </a:xfrm>
          <a:prstGeom prst="roundRect">
            <a:avLst>
              <a:gd name="adj" fmla="val 196898"/>
            </a:avLst>
          </a:prstGeom>
          <a:solidFill>
            <a:srgbClr val="9AABC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8"/>
          <p:cNvSpPr/>
          <p:nvPr/>
        </p:nvSpPr>
        <p:spPr>
          <a:xfrm>
            <a:off x="3371374" y="3207068"/>
            <a:ext cx="1577459" cy="356235"/>
          </a:xfrm>
          <a:prstGeom prst="roundRect">
            <a:avLst>
              <a:gd name="adj" fmla="val 4212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9797" y="3314819"/>
            <a:ext cx="140613" cy="1406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48845" y="3307080"/>
            <a:ext cx="1122878" cy="156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Risiko &amp; Kontrollen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998839" y="3559493"/>
            <a:ext cx="6210062" cy="7620"/>
          </a:xfrm>
          <a:prstGeom prst="roundRect">
            <a:avLst>
              <a:gd name="adj" fmla="val 196898"/>
            </a:avLst>
          </a:prstGeom>
          <a:solidFill>
            <a:srgbClr val="9AABC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1"/>
          <p:cNvSpPr/>
          <p:nvPr/>
        </p:nvSpPr>
        <p:spPr>
          <a:xfrm>
            <a:off x="3371374" y="3613309"/>
            <a:ext cx="2366248" cy="356235"/>
          </a:xfrm>
          <a:prstGeom prst="roundRect">
            <a:avLst>
              <a:gd name="adj" fmla="val 4212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4132" y="3721060"/>
            <a:ext cx="140613" cy="1406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37634" y="3713321"/>
            <a:ext cx="528638" cy="156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Prozesse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787628" y="3965734"/>
            <a:ext cx="5421273" cy="7620"/>
          </a:xfrm>
          <a:prstGeom prst="roundRect">
            <a:avLst>
              <a:gd name="adj" fmla="val 196898"/>
            </a:avLst>
          </a:prstGeom>
          <a:solidFill>
            <a:srgbClr val="9AABC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4"/>
          <p:cNvSpPr/>
          <p:nvPr/>
        </p:nvSpPr>
        <p:spPr>
          <a:xfrm>
            <a:off x="3371374" y="4019550"/>
            <a:ext cx="3154918" cy="356235"/>
          </a:xfrm>
          <a:prstGeom prst="roundRect">
            <a:avLst>
              <a:gd name="adj" fmla="val 4212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8467" y="4127302"/>
            <a:ext cx="140613" cy="1406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26304" y="4119563"/>
            <a:ext cx="642699" cy="156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Nachweise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6576298" y="4371975"/>
            <a:ext cx="4632603" cy="7620"/>
          </a:xfrm>
          <a:prstGeom prst="roundRect">
            <a:avLst>
              <a:gd name="adj" fmla="val 196898"/>
            </a:avLst>
          </a:prstGeom>
          <a:solidFill>
            <a:srgbClr val="9AABC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17"/>
          <p:cNvSpPr/>
          <p:nvPr/>
        </p:nvSpPr>
        <p:spPr>
          <a:xfrm>
            <a:off x="3371374" y="4425791"/>
            <a:ext cx="3943707" cy="356235"/>
          </a:xfrm>
          <a:prstGeom prst="roundRect">
            <a:avLst>
              <a:gd name="adj" fmla="val 4212"/>
            </a:avLst>
          </a:prstGeom>
          <a:solidFill>
            <a:srgbClr val="B4C5D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72921" y="4533543"/>
            <a:ext cx="140613" cy="14061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15093" y="4525804"/>
            <a:ext cx="1159431" cy="156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Betrieb &amp; Reporting</a:t>
            </a:r>
            <a:endParaRPr lang="en-US" sz="950" dirty="0"/>
          </a:p>
        </p:txBody>
      </p:sp>
      <p:sp>
        <p:nvSpPr>
          <p:cNvPr id="27" name="Text 19"/>
          <p:cNvSpPr/>
          <p:nvPr/>
        </p:nvSpPr>
        <p:spPr>
          <a:xfrm>
            <a:off x="3371374" y="4857631"/>
            <a:ext cx="211550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Was entsteht konkret?</a:t>
            </a:r>
            <a:endParaRPr lang="en-US" sz="1550" dirty="0"/>
          </a:p>
        </p:txBody>
      </p:sp>
      <p:sp>
        <p:nvSpPr>
          <p:cNvPr id="28" name="Text 20"/>
          <p:cNvSpPr/>
          <p:nvPr/>
        </p:nvSpPr>
        <p:spPr>
          <a:xfrm>
            <a:off x="3371374" y="5228630"/>
            <a:ext cx="3821787" cy="533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Policy-Set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Lifecycle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Rollenmodell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Dataset-/Modell-Templates</a:t>
            </a:r>
            <a:endParaRPr lang="en-US" sz="750" dirty="0"/>
          </a:p>
        </p:txBody>
      </p:sp>
      <p:sp>
        <p:nvSpPr>
          <p:cNvPr id="29" name="Text 21"/>
          <p:cNvSpPr/>
          <p:nvPr/>
        </p:nvSpPr>
        <p:spPr>
          <a:xfrm>
            <a:off x="7444621" y="5228630"/>
            <a:ext cx="3821787" cy="533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Risikoanalysen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Oversight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Evidence-Ordner</a:t>
            </a:r>
            <a:endParaRPr lang="en-US" sz="750" dirty="0"/>
          </a:p>
          <a:p>
            <a:pPr marL="342900" indent="-342900" algn="l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32486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KPI-Set</a:t>
            </a:r>
            <a:endParaRPr lang="en-US" sz="750" dirty="0"/>
          </a:p>
        </p:txBody>
      </p:sp>
      <p:sp>
        <p:nvSpPr>
          <p:cNvPr id="30" name="Text 22"/>
          <p:cNvSpPr/>
          <p:nvPr/>
        </p:nvSpPr>
        <p:spPr>
          <a:xfrm>
            <a:off x="3371374" y="5855732"/>
            <a:ext cx="200048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D2D2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Betriebsmodell</a:t>
            </a:r>
            <a:endParaRPr lang="en-US" sz="1550" dirty="0"/>
          </a:p>
        </p:txBody>
      </p:sp>
      <p:sp>
        <p:nvSpPr>
          <p:cNvPr id="31" name="Shape 23"/>
          <p:cNvSpPr/>
          <p:nvPr/>
        </p:nvSpPr>
        <p:spPr>
          <a:xfrm>
            <a:off x="3371374" y="6181368"/>
            <a:ext cx="3918585" cy="386715"/>
          </a:xfrm>
          <a:prstGeom prst="roundRect">
            <a:avLst>
              <a:gd name="adj" fmla="val 3880"/>
            </a:avLst>
          </a:prstGeom>
          <a:solidFill>
            <a:srgbClr val="CBD6E6"/>
          </a:solidFill>
          <a:ln w="1524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24"/>
          <p:cNvSpPr/>
          <p:nvPr/>
        </p:nvSpPr>
        <p:spPr>
          <a:xfrm>
            <a:off x="3486626" y="6296620"/>
            <a:ext cx="1250275" cy="156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Monats-Governance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7340322" y="6181368"/>
            <a:ext cx="3918585" cy="386715"/>
          </a:xfrm>
          <a:prstGeom prst="roundRect">
            <a:avLst>
              <a:gd name="adj" fmla="val 3880"/>
            </a:avLst>
          </a:prstGeom>
          <a:solidFill>
            <a:srgbClr val="CBD6E6"/>
          </a:solidFill>
          <a:ln w="1524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26"/>
          <p:cNvSpPr/>
          <p:nvPr/>
        </p:nvSpPr>
        <p:spPr>
          <a:xfrm>
            <a:off x="7455575" y="6296620"/>
            <a:ext cx="1250275" cy="156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Change-/Incident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3371374" y="6618446"/>
            <a:ext cx="3918585" cy="386715"/>
          </a:xfrm>
          <a:prstGeom prst="roundRect">
            <a:avLst>
              <a:gd name="adj" fmla="val 3880"/>
            </a:avLst>
          </a:prstGeom>
          <a:solidFill>
            <a:srgbClr val="CBD6E6"/>
          </a:solidFill>
          <a:ln w="1524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28"/>
          <p:cNvSpPr/>
          <p:nvPr/>
        </p:nvSpPr>
        <p:spPr>
          <a:xfrm>
            <a:off x="3486626" y="6733699"/>
            <a:ext cx="1250275" cy="156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Servicekatalog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7340322" y="6618446"/>
            <a:ext cx="3918585" cy="386715"/>
          </a:xfrm>
          <a:prstGeom prst="roundRect">
            <a:avLst>
              <a:gd name="adj" fmla="val 3880"/>
            </a:avLst>
          </a:prstGeom>
          <a:solidFill>
            <a:srgbClr val="CBD6E6"/>
          </a:solidFill>
          <a:ln w="15240">
            <a:solidFill>
              <a:srgbClr val="9AABC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0"/>
          <p:cNvSpPr/>
          <p:nvPr/>
        </p:nvSpPr>
        <p:spPr>
          <a:xfrm>
            <a:off x="7455575" y="6733699"/>
            <a:ext cx="1250275" cy="156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2486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Reporting</a:t>
            </a:r>
            <a:endParaRPr lang="en-US" sz="950" dirty="0"/>
          </a:p>
        </p:txBody>
      </p:sp>
      <p:pic>
        <p:nvPicPr>
          <p:cNvPr id="39" name="Image 6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374" y="7061835"/>
            <a:ext cx="2028587" cy="2750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880</Words>
  <Application>Microsoft Office PowerPoint</Application>
  <PresentationFormat>Benutzerdefiniert</PresentationFormat>
  <Paragraphs>204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IBM Plex Sans</vt:lpstr>
      <vt:lpstr>Arial</vt:lpstr>
      <vt:lpstr>IBM Plex Sans Bold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Dr. Dirk Koetting</cp:lastModifiedBy>
  <cp:revision>2</cp:revision>
  <dcterms:created xsi:type="dcterms:W3CDTF">2026-04-06T08:01:41Z</dcterms:created>
  <dcterms:modified xsi:type="dcterms:W3CDTF">2026-04-20T04:46:09Z</dcterms:modified>
</cp:coreProperties>
</file>